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3" r:id="rId2"/>
  </p:sldMasterIdLst>
  <p:notesMasterIdLst>
    <p:notesMasterId r:id="rId4"/>
  </p:notesMasterIdLst>
  <p:handoutMasterIdLst>
    <p:handoutMasterId r:id="rId5"/>
  </p:handoutMasterIdLst>
  <p:sldIdLst>
    <p:sldId id="258" r:id="rId3"/>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p15:clr>
            <a:srgbClr val="A4A3A4"/>
          </p15:clr>
        </p15:guide>
        <p15:guide id="2" orient="horz" pos="240" userDrawn="1">
          <p15:clr>
            <a:srgbClr val="A4A3A4"/>
          </p15:clr>
        </p15:guide>
        <p15:guide id="3" orient="horz" pos="20160">
          <p15:clr>
            <a:srgbClr val="A4A3A4"/>
          </p15:clr>
        </p15:guide>
        <p15:guide id="4" orient="horz">
          <p15:clr>
            <a:srgbClr val="A4A3A4"/>
          </p15:clr>
        </p15:guide>
        <p15:guide id="5" pos="264" userDrawn="1">
          <p15:clr>
            <a:srgbClr val="A4A3A4"/>
          </p15:clr>
        </p15:guide>
        <p15:guide id="6" pos="2738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4558" autoAdjust="0"/>
  </p:normalViewPr>
  <p:slideViewPr>
    <p:cSldViewPr snapToGrid="0" snapToObjects="1" showGuides="1">
      <p:cViewPr varScale="1">
        <p:scale>
          <a:sx n="12" d="100"/>
          <a:sy n="12" d="100"/>
        </p:scale>
        <p:origin x="1804" y="88"/>
      </p:cViewPr>
      <p:guideLst>
        <p:guide orient="horz" pos="3318"/>
        <p:guide orient="horz" pos="240"/>
        <p:guide orient="horz" pos="20160"/>
        <p:guide orient="horz"/>
        <p:guide pos="264"/>
        <p:guide pos="27384"/>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8/6/2024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8/6/2024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5829841"/>
            <a:ext cx="10056813"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77827" y="5000109"/>
            <a:ext cx="10048875" cy="615545"/>
          </a:xfrm>
          <a:prstGeom prst="rect">
            <a:avLst/>
          </a:prstGeom>
          <a:solidFill>
            <a:schemeClr val="accent5">
              <a:lumMod val="50000"/>
            </a:schemeClr>
          </a:solidFill>
        </p:spPr>
        <p:txBody>
          <a:bodyPr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77825" y="13663873"/>
            <a:ext cx="10050462" cy="615545"/>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5829841"/>
            <a:ext cx="10048874"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000109"/>
            <a:ext cx="10048875" cy="615545"/>
          </a:xfrm>
          <a:prstGeom prst="rect">
            <a:avLst/>
          </a:prstGeom>
          <a:solidFill>
            <a:schemeClr val="accent5">
              <a:lumMod val="50000"/>
            </a:schemeClr>
          </a:solidFill>
        </p:spPr>
        <p:txBody>
          <a:bodyPr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5829841"/>
            <a:ext cx="10048874"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000109"/>
            <a:ext cx="10058400" cy="615545"/>
          </a:xfrm>
          <a:prstGeom prst="rect">
            <a:avLst/>
          </a:prstGeom>
          <a:solidFill>
            <a:schemeClr val="accent5">
              <a:lumMod val="50000"/>
            </a:schemeClr>
          </a:solidFill>
        </p:spPr>
        <p:txBody>
          <a:bodyPr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000109"/>
            <a:ext cx="10047018" cy="615545"/>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5829841"/>
            <a:ext cx="10047018"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3724098"/>
            <a:ext cx="10047018" cy="615545"/>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4462762"/>
            <a:ext cx="10052050"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130761"/>
            <a:ext cx="10047018" cy="615545"/>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5884806"/>
            <a:ext cx="10052050"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59674" y="14402912"/>
            <a:ext cx="10056813"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2505788"/>
            <a:ext cx="31998968" cy="523220"/>
          </a:xfrm>
          <a:prstGeom prst="rect">
            <a:avLst/>
          </a:prstGeom>
        </p:spPr>
        <p:txBody>
          <a:bodyPr anchor="t" anchorCtr="0">
            <a:spAutoFit/>
          </a:bodyPr>
          <a:lstStyle>
            <a:lvl1pPr marL="0" indent="0" algn="ctr">
              <a:buFontTx/>
              <a:buNone/>
              <a:defRPr sz="28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1562745"/>
            <a:ext cx="31998968" cy="769441"/>
          </a:xfrm>
          <a:prstGeom prst="rect">
            <a:avLst/>
          </a:prstGeom>
        </p:spPr>
        <p:txBody>
          <a:bodyPr anchor="t" anchorCtr="0">
            <a:spAutoFit/>
          </a:bodyPr>
          <a:lstStyle>
            <a:lvl1pPr marL="0" indent="0" algn="ctr">
              <a:buFontTx/>
              <a:buNone/>
              <a:defRPr sz="44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923330"/>
          </a:xfrm>
          <a:prstGeom prst="rect">
            <a:avLst/>
          </a:prstGeom>
        </p:spPr>
        <p:txBody>
          <a:bodyPr anchor="t" anchorCtr="0">
            <a:spAutoFit/>
          </a:bodyPr>
          <a:lstStyle>
            <a:lvl1pPr marL="0" indent="0" algn="ctr">
              <a:buFontTx/>
              <a:buNone/>
              <a:defRPr sz="5400" b="1">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77827"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77825"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59674"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438864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C4703D5-BF2F-DF41-7EEE-50B26CAB4433}"/>
              </a:ext>
            </a:extLst>
          </p:cNvPr>
          <p:cNvSpPr/>
          <p:nvPr userDrawn="1"/>
        </p:nvSpPr>
        <p:spPr>
          <a:xfrm>
            <a:off x="0" y="32077025"/>
            <a:ext cx="43891200" cy="9132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Box 14"/>
          <p:cNvSpPr txBox="1">
            <a:spLocks noChangeArrowheads="1"/>
          </p:cNvSpPr>
          <p:nvPr/>
        </p:nvSpPr>
        <p:spPr bwMode="auto">
          <a:xfrm>
            <a:off x="652905" y="32351882"/>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2022</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grpSp>
        <p:nvGrpSpPr>
          <p:cNvPr id="6" name="Group 5">
            <a:extLst>
              <a:ext uri="{FF2B5EF4-FFF2-40B4-BE49-F238E27FC236}">
                <a16:creationId xmlns:a16="http://schemas.microsoft.com/office/drawing/2014/main" id="{E5ED0136-E6E9-E340-DCD6-5053BABFBFE4}"/>
              </a:ext>
            </a:extLst>
          </p:cNvPr>
          <p:cNvGrpSpPr/>
          <p:nvPr userDrawn="1"/>
        </p:nvGrpSpPr>
        <p:grpSpPr>
          <a:xfrm>
            <a:off x="0" y="14098"/>
            <a:ext cx="43891200" cy="4314166"/>
            <a:chOff x="0" y="-1"/>
            <a:chExt cx="12192000" cy="1219223"/>
          </a:xfrm>
        </p:grpSpPr>
        <p:sp>
          <p:nvSpPr>
            <p:cNvPr id="7" name="Document 6">
              <a:extLst>
                <a:ext uri="{FF2B5EF4-FFF2-40B4-BE49-F238E27FC236}">
                  <a16:creationId xmlns:a16="http://schemas.microsoft.com/office/drawing/2014/main" id="{F27200FE-D213-3004-DA26-3B8202A2AB23}"/>
                </a:ext>
              </a:extLst>
            </p:cNvPr>
            <p:cNvSpPr/>
            <p:nvPr/>
          </p:nvSpPr>
          <p:spPr>
            <a:xfrm>
              <a:off x="0" y="89065"/>
              <a:ext cx="12192000" cy="1130157"/>
            </a:xfrm>
            <a:prstGeom prst="flowChartDocument">
              <a:avLst/>
            </a:prstGeom>
            <a:gradFill>
              <a:gsLst>
                <a:gs pos="0">
                  <a:srgbClr val="C00000"/>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ocument 7">
              <a:extLst>
                <a:ext uri="{FF2B5EF4-FFF2-40B4-BE49-F238E27FC236}">
                  <a16:creationId xmlns:a16="http://schemas.microsoft.com/office/drawing/2014/main" id="{BB4B2C32-5D48-98BC-A030-3CCE7D871E0A}"/>
                </a:ext>
              </a:extLst>
            </p:cNvPr>
            <p:cNvSpPr/>
            <p:nvPr/>
          </p:nvSpPr>
          <p:spPr>
            <a:xfrm>
              <a:off x="0" y="-1"/>
              <a:ext cx="12192000" cy="1130157"/>
            </a:xfrm>
            <a:prstGeom prst="flowChartDocumen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12" name="Table 11">
            <a:extLst>
              <a:ext uri="{FF2B5EF4-FFF2-40B4-BE49-F238E27FC236}">
                <a16:creationId xmlns:a16="http://schemas.microsoft.com/office/drawing/2014/main" id="{9631A715-ABDD-C916-FF3F-590B3A828BD8}"/>
              </a:ext>
            </a:extLst>
          </p:cNvPr>
          <p:cNvGraphicFramePr>
            <a:graphicFrameLocks noGrp="1"/>
          </p:cNvGraphicFramePr>
          <p:nvPr userDrawn="1">
            <p:extLst>
              <p:ext uri="{D42A27DB-BD31-4B8C-83A1-F6EECF244321}">
                <p14:modId xmlns:p14="http://schemas.microsoft.com/office/powerpoint/2010/main" val="4281770255"/>
              </p:ext>
            </p:extLst>
          </p:nvPr>
        </p:nvGraphicFramePr>
        <p:xfrm>
          <a:off x="-10611120" y="14098"/>
          <a:ext cx="9776869" cy="32679220"/>
        </p:xfrm>
        <a:graphic>
          <a:graphicData uri="http://schemas.openxmlformats.org/drawingml/2006/table">
            <a:tbl>
              <a:tblPr firstRow="1" bandRow="1">
                <a:tableStyleId>{5C22544A-7EE6-4342-B048-85BDC9FD1C3A}</a:tableStyleId>
              </a:tblPr>
              <a:tblGrid>
                <a:gridCol w="4192245">
                  <a:extLst>
                    <a:ext uri="{9D8B030D-6E8A-4147-A177-3AD203B41FA5}">
                      <a16:colId xmlns:a16="http://schemas.microsoft.com/office/drawing/2014/main" val="20000"/>
                    </a:ext>
                  </a:extLst>
                </a:gridCol>
                <a:gridCol w="5584624">
                  <a:extLst>
                    <a:ext uri="{9D8B030D-6E8A-4147-A177-3AD203B41FA5}">
                      <a16:colId xmlns:a16="http://schemas.microsoft.com/office/drawing/2014/main" val="20001"/>
                    </a:ext>
                  </a:extLst>
                </a:gridCol>
              </a:tblGrid>
              <a:tr h="132911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itchFamily="34" charset="0"/>
                        </a:rPr>
                        <a:t>(THIS SIDEBAR WILL NOT PRINT)</a:t>
                      </a:r>
                      <a:endParaRPr lang="en-US" sz="36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06624">
                <a:tc gridSpan="2">
                  <a:txBody>
                    <a:bodyPr/>
                    <a:lstStyle/>
                    <a:p>
                      <a:pPr defTabSz="3765639"/>
                      <a:r>
                        <a:rPr lang="en-US" sz="2000" i="0" dirty="0">
                          <a:solidFill>
                            <a:srgbClr val="D9D9D9"/>
                          </a:solidFill>
                          <a:latin typeface="Arial"/>
                          <a:cs typeface="Arial"/>
                        </a:rPr>
                        <a:t>This PowerPoint template produces a </a:t>
                      </a:r>
                      <a:r>
                        <a:rPr lang="en-US" sz="2000" i="0" dirty="0">
                          <a:solidFill>
                            <a:srgbClr val="FFC000"/>
                          </a:solidFill>
                          <a:latin typeface="Arial"/>
                          <a:cs typeface="Arial"/>
                        </a:rPr>
                        <a:t>36"x48" </a:t>
                      </a:r>
                      <a:r>
                        <a:rPr lang="en-US" sz="20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the  </a:t>
                      </a:r>
                      <a:r>
                        <a:rPr lang="en-US" sz="2000" i="0" dirty="0">
                          <a:solidFill>
                            <a:srgbClr val="FFC000"/>
                          </a:solidFill>
                          <a:latin typeface="Arial"/>
                          <a:cs typeface="Arial"/>
                        </a:rPr>
                        <a:t>HELP DESK</a:t>
                      </a:r>
                      <a:r>
                        <a:rPr lang="en-US" sz="2000" i="0" baseline="0" dirty="0">
                          <a:solidFill>
                            <a:srgbClr val="D9D9D9"/>
                          </a:solidFill>
                          <a:latin typeface="Arial"/>
                          <a:cs typeface="Arial"/>
                        </a:rPr>
                        <a:t> </a:t>
                      </a:r>
                      <a:r>
                        <a:rPr lang="en-US" sz="2000" i="0" dirty="0">
                          <a:solidFill>
                            <a:srgbClr val="D9D9D9"/>
                          </a:solidFill>
                          <a:latin typeface="Arial"/>
                          <a:cs typeface="Arial"/>
                        </a:rPr>
                        <a:t>tab.</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To print your poster using our same-day professional printing service,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a:t>
                      </a:r>
                      <a:r>
                        <a:rPr lang="en-US" sz="2000" i="0" dirty="0">
                          <a:solidFill>
                            <a:srgbClr val="FFC000"/>
                          </a:solidFill>
                          <a:latin typeface="Arial"/>
                          <a:cs typeface="Arial"/>
                        </a:rPr>
                        <a:t>Order your poster</a:t>
                      </a:r>
                      <a:r>
                        <a:rPr lang="en-US" sz="2000" i="0" dirty="0">
                          <a:solidFill>
                            <a:srgbClr val="D9D9D9"/>
                          </a:solidFill>
                          <a:latin typeface="Arial"/>
                          <a:cs typeface="Arial"/>
                        </a:rPr>
                        <a:t>".</a:t>
                      </a:r>
                      <a:endParaRPr lang="en-US" sz="20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572417">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604020202020204" pitchFamily="34" charset="0"/>
                          <a:cs typeface="Arial" panose="020B0604020202020204" pitchFamily="34" charset="0"/>
                        </a:rPr>
                        <a:t>This is a template for a </a:t>
                      </a:r>
                    </a:p>
                    <a:p>
                      <a:pPr algn="ctr"/>
                      <a:r>
                        <a:rPr lang="en-US" sz="2000" dirty="0">
                          <a:solidFill>
                            <a:schemeClr val="bg1"/>
                          </a:solidFill>
                          <a:latin typeface="Arial" panose="020B0604020202020204" pitchFamily="34" charset="0"/>
                          <a:cs typeface="Arial" panose="020B0604020202020204" pitchFamily="34" charset="0"/>
                        </a:rPr>
                        <a:t>presentation poster</a:t>
                      </a:r>
                      <a:br>
                        <a:rPr lang="en-US" sz="2000" dirty="0">
                          <a:solidFill>
                            <a:schemeClr val="bg1"/>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36 inches tall</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by</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48 inches wide</a:t>
                      </a:r>
                      <a:br>
                        <a:rPr lang="en-US" sz="2000" dirty="0">
                          <a:solidFill>
                            <a:schemeClr val="bg1"/>
                          </a:solidFill>
                          <a:latin typeface="Arial" panose="020B0604020202020204" pitchFamily="34" charset="0"/>
                          <a:cs typeface="Arial" panose="020B0604020202020204" pitchFamily="34" charset="0"/>
                        </a:rPr>
                      </a:br>
                      <a:endParaRPr lang="en-US" sz="20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Important: Check the template size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30 tall x 40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42 tall x 56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48 tall x 64 wide</a:t>
                      </a:r>
                    </a:p>
                  </a:txBody>
                  <a:tcPr marL="182880" marT="137160">
                    <a:solidFill>
                      <a:srgbClr val="010101"/>
                    </a:solidFill>
                  </a:tcPr>
                </a:tc>
                <a:extLst>
                  <a:ext uri="{0D108BD9-81ED-4DB2-BD59-A6C34878D82A}">
                    <a16:rowId xmlns:a16="http://schemas.microsoft.com/office/drawing/2014/main" val="10008"/>
                  </a:ext>
                </a:extLst>
              </a:tr>
              <a:tr h="4288692">
                <a:tc>
                  <a:txBody>
                    <a:bodyPr/>
                    <a:lstStyle/>
                    <a:p>
                      <a:endParaRPr lang="en-US" sz="2000" dirty="0">
                        <a:solidFill>
                          <a:srgbClr val="1F3A4E"/>
                        </a:solidFill>
                      </a:endParaRPr>
                    </a:p>
                  </a:txBody>
                  <a:tcPr>
                    <a:blipFill rotWithShape="1">
                      <a:blip r:embed="rId3"/>
                      <a:stretch>
                        <a:fillRect/>
                      </a:stretch>
                    </a:blipFill>
                  </a:tcPr>
                </a:tc>
                <a:tc>
                  <a:txBody>
                    <a:bodyPr/>
                    <a:lstStyle/>
                    <a:p>
                      <a:pPr algn="l"/>
                      <a:r>
                        <a:rPr lang="en-US" sz="2400" b="1" baseline="0" dirty="0">
                          <a:solidFill>
                            <a:srgbClr val="FFC000"/>
                          </a:solidFill>
                          <a:latin typeface="Arial" panose="020B0604020202020204" pitchFamily="34" charset="0"/>
                          <a:cs typeface="Arial" panose="020B0604020202020204" pitchFamily="34" charset="0"/>
                        </a:rPr>
                        <a:t>How to </a:t>
                      </a:r>
                      <a:r>
                        <a:rPr lang="en-US" sz="4000" b="1" baseline="0" dirty="0">
                          <a:solidFill>
                            <a:srgbClr val="FFC000"/>
                          </a:solidFill>
                          <a:latin typeface="Arial" panose="020B0604020202020204" pitchFamily="34" charset="0"/>
                          <a:cs typeface="Arial" panose="020B0604020202020204" pitchFamily="34" charset="0"/>
                        </a:rPr>
                        <a:t>Zoom in </a:t>
                      </a:r>
                      <a:r>
                        <a:rPr lang="en-US" sz="2400" b="1" baseline="0" dirty="0">
                          <a:solidFill>
                            <a:srgbClr val="FFC000"/>
                          </a:solidFill>
                          <a:latin typeface="Arial" panose="020B0604020202020204" pitchFamily="34" charset="0"/>
                          <a:cs typeface="Arial" panose="020B0604020202020204" pitchFamily="34" charset="0"/>
                        </a:rPr>
                        <a:t>and </a:t>
                      </a:r>
                      <a:r>
                        <a:rPr lang="en-US" sz="1800" b="1" baseline="0" dirty="0">
                          <a:solidFill>
                            <a:srgbClr val="FFC000"/>
                          </a:solidFill>
                          <a:latin typeface="Arial" panose="020B0604020202020204" pitchFamily="34" charset="0"/>
                          <a:cs typeface="Arial" panose="020B0604020202020204" pitchFamily="34" charset="0"/>
                        </a:rPr>
                        <a:t>out</a:t>
                      </a:r>
                      <a:endParaRPr lang="en-US" sz="2400" b="1" baseline="0" dirty="0">
                        <a:solidFill>
                          <a:srgbClr val="FFC000"/>
                        </a:solidFill>
                        <a:latin typeface="Arial" panose="020B0604020202020204" pitchFamily="34" charset="0"/>
                        <a:cs typeface="Arial" panose="020B0604020202020204" pitchFamily="34" charset="0"/>
                      </a:endParaRPr>
                    </a:p>
                    <a:p>
                      <a:pPr algn="l"/>
                      <a:r>
                        <a:rPr lang="en-US" sz="2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1. </a:t>
                      </a:r>
                      <a:r>
                        <a:rPr lang="en-US" sz="2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2. </a:t>
                      </a:r>
                      <a:r>
                        <a:rPr lang="en-US" sz="2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80052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Ruler and Guides</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824339">
                <a:tc>
                  <a:txBody>
                    <a:bodyPr/>
                    <a:lstStyle/>
                    <a:p>
                      <a:endParaRPr lang="en-US" sz="2000" dirty="0">
                        <a:solidFill>
                          <a:srgbClr val="1F3A4E"/>
                        </a:solidFill>
                      </a:endParaRPr>
                    </a:p>
                  </a:txBody>
                  <a:tcPr>
                    <a:blipFill rotWithShape="1">
                      <a:blip r:embed="rId4"/>
                      <a:stretch>
                        <a:fillRect/>
                      </a:stretch>
                    </a:blipFill>
                  </a:tcPr>
                </a:tc>
                <a:tc>
                  <a:txBody>
                    <a:bodyPr/>
                    <a:lstStyle/>
                    <a:p>
                      <a:pPr marL="0" lvl="1" indent="0" algn="l" defTabSz="114300"/>
                      <a:r>
                        <a:rPr lang="en-US" sz="2400" b="1" baseline="0" dirty="0">
                          <a:solidFill>
                            <a:srgbClr val="FFC000"/>
                          </a:solidFill>
                          <a:latin typeface="Arial" panose="020B0604020202020204" pitchFamily="34" charset="0"/>
                          <a:cs typeface="Arial" panose="020B0604020202020204" pitchFamily="34" charset="0"/>
                        </a:rPr>
                        <a:t>Headers and text containers</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519135">
                <a:tc gridSpan="2">
                  <a:txBody>
                    <a:bodyPr/>
                    <a:lstStyle/>
                    <a:p>
                      <a:r>
                        <a:rPr lang="en-US" sz="2400" b="1" dirty="0">
                          <a:solidFill>
                            <a:srgbClr val="FFC000"/>
                          </a:solidFill>
                          <a:latin typeface="Arial" panose="020B0604020202020204" pitchFamily="34" charset="0"/>
                          <a:cs typeface="Arial" panose="020B0604020202020204" pitchFamily="34" charset="0"/>
                        </a:rPr>
                        <a:t>Adding content to the poster</a:t>
                      </a:r>
                    </a:p>
                    <a:p>
                      <a:r>
                        <a:rPr lang="en-US" sz="2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37765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93170">
                <a:tc gridSpan="2">
                  <a:txBody>
                    <a:bodyPr/>
                    <a:lstStyle/>
                    <a:p>
                      <a:endParaRPr lang="en-US" sz="20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28027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0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18727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3" name="Table 12">
            <a:extLst>
              <a:ext uri="{FF2B5EF4-FFF2-40B4-BE49-F238E27FC236}">
                <a16:creationId xmlns:a16="http://schemas.microsoft.com/office/drawing/2014/main" id="{72BD4B14-1893-B4DB-61A1-412ACC2BFADA}"/>
              </a:ext>
            </a:extLst>
          </p:cNvPr>
          <p:cNvGraphicFramePr>
            <a:graphicFrameLocks noGrp="1"/>
          </p:cNvGraphicFramePr>
          <p:nvPr userDrawn="1">
            <p:extLst>
              <p:ext uri="{D42A27DB-BD31-4B8C-83A1-F6EECF244321}">
                <p14:modId xmlns:p14="http://schemas.microsoft.com/office/powerpoint/2010/main" val="1007574606"/>
              </p:ext>
            </p:extLst>
          </p:nvPr>
        </p:nvGraphicFramePr>
        <p:xfrm>
          <a:off x="44695229" y="-84749"/>
          <a:ext cx="9430188" cy="33075070"/>
        </p:xfrm>
        <a:graphic>
          <a:graphicData uri="http://schemas.openxmlformats.org/drawingml/2006/table">
            <a:tbl>
              <a:tblPr firstRow="1" bandRow="1">
                <a:tableStyleId>{5C22544A-7EE6-4342-B048-85BDC9FD1C3A}</a:tableStyleId>
              </a:tblPr>
              <a:tblGrid>
                <a:gridCol w="3343835">
                  <a:extLst>
                    <a:ext uri="{9D8B030D-6E8A-4147-A177-3AD203B41FA5}">
                      <a16:colId xmlns:a16="http://schemas.microsoft.com/office/drawing/2014/main" val="20000"/>
                    </a:ext>
                  </a:extLst>
                </a:gridCol>
                <a:gridCol w="1381559">
                  <a:extLst>
                    <a:ext uri="{9D8B030D-6E8A-4147-A177-3AD203B41FA5}">
                      <a16:colId xmlns:a16="http://schemas.microsoft.com/office/drawing/2014/main" val="997673227"/>
                    </a:ext>
                  </a:extLst>
                </a:gridCol>
                <a:gridCol w="4704794">
                  <a:extLst>
                    <a:ext uri="{9D8B030D-6E8A-4147-A177-3AD203B41FA5}">
                      <a16:colId xmlns:a16="http://schemas.microsoft.com/office/drawing/2014/main" val="4164475170"/>
                    </a:ext>
                  </a:extLst>
                </a:gridCol>
              </a:tblGrid>
              <a:tr h="1756432">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63101">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endParaRPr lang="en-US"/>
                    </a:p>
                  </a:txBody>
                  <a:tcPr/>
                </a:tc>
                <a:extLst>
                  <a:ext uri="{0D108BD9-81ED-4DB2-BD59-A6C34878D82A}">
                    <a16:rowId xmlns:a16="http://schemas.microsoft.com/office/drawing/2014/main" val="10001"/>
                  </a:ext>
                </a:extLst>
              </a:tr>
              <a:tr h="3667719">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u="sng" dirty="0">
                        <a:solidFill>
                          <a:srgbClr val="FFC000"/>
                        </a:solidFill>
                      </a:endParaRP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517707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288832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3781426">
                <a:tc gridSpan="2">
                  <a:txBody>
                    <a:bodyPr/>
                    <a:lstStyle/>
                    <a:p>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hMerge="1">
                  <a:txBody>
                    <a:bodyPr/>
                    <a:lstStyle/>
                    <a:p>
                      <a:endParaRPr lang="en-US"/>
                    </a:p>
                  </a:txBody>
                  <a:tcPr/>
                </a:tc>
                <a:tc>
                  <a:txBody>
                    <a:bodyPr/>
                    <a:lstStyle/>
                    <a:p>
                      <a:pPr algn="ctr"/>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67400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354778">
                <a:tc gridSpan="3">
                  <a:txBody>
                    <a:bodyPr/>
                    <a:lstStyle/>
                    <a:p>
                      <a:endParaRPr lang="en-US" sz="2400" dirty="0">
                        <a:solidFill>
                          <a:srgbClr val="1F3A4E"/>
                        </a:solidFill>
                      </a:endParaRPr>
                    </a:p>
                  </a:txBody>
                  <a:tcPr marL="182880" marT="137160">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3212204">
                <a:tc>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567305" y="32390910"/>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2022</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039B15A-A5D0-CCF3-5253-13C72B1D5BE0}"/>
              </a:ext>
            </a:extLst>
          </p:cNvPr>
          <p:cNvSpPr>
            <a:spLocks noGrp="1"/>
          </p:cNvSpPr>
          <p:nvPr>
            <p:ph type="body" sz="quarter" idx="10"/>
          </p:nvPr>
        </p:nvSpPr>
        <p:spPr>
          <a:xfrm>
            <a:off x="459674" y="5696931"/>
            <a:ext cx="10056813" cy="9436407"/>
          </a:xfrm>
        </p:spPr>
        <p:txBody>
          <a:bodyPr/>
          <a:lstStyle/>
          <a:p>
            <a:r>
              <a:rPr lang="en-US" sz="4800" dirty="0"/>
              <a:t>Our accomplishments this semester</a:t>
            </a:r>
          </a:p>
          <a:p>
            <a:pPr marL="285750" indent="-285750">
              <a:buFont typeface="Arial" panose="020B0604020202020204" pitchFamily="34" charset="0"/>
              <a:buChar char="•"/>
            </a:pPr>
            <a:r>
              <a:rPr lang="en-US" sz="4800" dirty="0"/>
              <a:t>Changed the overall theme of the website to look closer to the </a:t>
            </a:r>
            <a:r>
              <a:rPr lang="en-US" sz="4800" dirty="0" err="1"/>
              <a:t>PSoft</a:t>
            </a:r>
            <a:r>
              <a:rPr lang="en-US" sz="4800" dirty="0"/>
              <a:t> website</a:t>
            </a:r>
          </a:p>
          <a:p>
            <a:pPr marL="285750" indent="-285750">
              <a:buFont typeface="Arial" panose="020B0604020202020204" pitchFamily="34" charset="0"/>
              <a:buChar char="•"/>
            </a:pPr>
            <a:r>
              <a:rPr lang="en-US" sz="4800" dirty="0"/>
              <a:t>Added pages for design patterns</a:t>
            </a:r>
          </a:p>
          <a:p>
            <a:pPr marL="285750" indent="-285750">
              <a:buFont typeface="Arial" panose="020B0604020202020204" pitchFamily="34" charset="0"/>
              <a:buChar char="•"/>
            </a:pPr>
            <a:r>
              <a:rPr lang="en-US" sz="4800" dirty="0"/>
              <a:t>Changed the formatting of Hoare Triple output</a:t>
            </a:r>
          </a:p>
          <a:p>
            <a:pPr marL="285750" indent="-285750">
              <a:buFont typeface="Arial" panose="020B0604020202020204" pitchFamily="34" charset="0"/>
              <a:buChar char="•"/>
            </a:pPr>
            <a:r>
              <a:rPr lang="en-US" sz="4800" dirty="0"/>
              <a:t>Began working on new logo</a:t>
            </a:r>
          </a:p>
          <a:p>
            <a:pPr marL="285750" indent="-285750">
              <a:buFont typeface="Arial" panose="020B0604020202020204" pitchFamily="34" charset="0"/>
              <a:buChar char="•"/>
            </a:pPr>
            <a:endParaRPr lang="en-US" sz="3600" dirty="0"/>
          </a:p>
          <a:p>
            <a:pPr marL="285750" indent="-285750">
              <a:buFont typeface="Arial" panose="020B0604020202020204" pitchFamily="34" charset="0"/>
              <a:buChar char="•"/>
            </a:pPr>
            <a:endParaRPr lang="en-US" dirty="0"/>
          </a:p>
        </p:txBody>
      </p:sp>
      <p:sp>
        <p:nvSpPr>
          <p:cNvPr id="3" name="Text Placeholder 2">
            <a:extLst>
              <a:ext uri="{FF2B5EF4-FFF2-40B4-BE49-F238E27FC236}">
                <a16:creationId xmlns:a16="http://schemas.microsoft.com/office/drawing/2014/main" id="{ABF601BF-2A5B-5C56-BF98-D57CC5FA7615}"/>
              </a:ext>
            </a:extLst>
          </p:cNvPr>
          <p:cNvSpPr>
            <a:spLocks noGrp="1"/>
          </p:cNvSpPr>
          <p:nvPr>
            <p:ph type="body" sz="quarter" idx="11"/>
          </p:nvPr>
        </p:nvSpPr>
        <p:spPr/>
        <p:txBody>
          <a:bodyPr/>
          <a:lstStyle/>
          <a:p>
            <a:r>
              <a:rPr lang="en-US" dirty="0"/>
              <a:t>FRONT END </a:t>
            </a:r>
          </a:p>
        </p:txBody>
      </p:sp>
      <p:sp>
        <p:nvSpPr>
          <p:cNvPr id="4" name="Text Placeholder 3">
            <a:extLst>
              <a:ext uri="{FF2B5EF4-FFF2-40B4-BE49-F238E27FC236}">
                <a16:creationId xmlns:a16="http://schemas.microsoft.com/office/drawing/2014/main" id="{2FA128F3-6A57-DD54-BC55-ABC7987AB417}"/>
              </a:ext>
            </a:extLst>
          </p:cNvPr>
          <p:cNvSpPr>
            <a:spLocks noGrp="1"/>
          </p:cNvSpPr>
          <p:nvPr>
            <p:ph type="body" sz="quarter" idx="20"/>
          </p:nvPr>
        </p:nvSpPr>
        <p:spPr>
          <a:xfrm>
            <a:off x="448858" y="16340688"/>
            <a:ext cx="10050462" cy="615545"/>
          </a:xfrm>
        </p:spPr>
        <p:txBody>
          <a:bodyPr/>
          <a:lstStyle/>
          <a:p>
            <a:r>
              <a:rPr lang="en-US" dirty="0"/>
              <a:t>FUTURE PLANS</a:t>
            </a:r>
          </a:p>
        </p:txBody>
      </p:sp>
      <p:sp>
        <p:nvSpPr>
          <p:cNvPr id="5" name="Text Placeholder 4">
            <a:extLst>
              <a:ext uri="{FF2B5EF4-FFF2-40B4-BE49-F238E27FC236}">
                <a16:creationId xmlns:a16="http://schemas.microsoft.com/office/drawing/2014/main" id="{7E17A497-46C1-B833-4D36-ADCA71D86349}"/>
              </a:ext>
            </a:extLst>
          </p:cNvPr>
          <p:cNvSpPr>
            <a:spLocks noGrp="1"/>
          </p:cNvSpPr>
          <p:nvPr>
            <p:ph type="body" sz="quarter" idx="21"/>
          </p:nvPr>
        </p:nvSpPr>
        <p:spPr>
          <a:xfrm>
            <a:off x="11460161" y="5829841"/>
            <a:ext cx="10048874" cy="10679825"/>
          </a:xfrm>
        </p:spPr>
        <p:txBody>
          <a:bodyPr/>
          <a:lstStyle/>
          <a:p>
            <a:pPr algn="ctr"/>
            <a:r>
              <a:rPr lang="en-US" sz="4000" dirty="0"/>
              <a:t>Interactive Web Tools for Students Taking Principles of Software</a:t>
            </a:r>
          </a:p>
          <a:p>
            <a:r>
              <a:rPr lang="en-US" sz="4000" b="1" dirty="0"/>
              <a:t>Tech Stack</a:t>
            </a:r>
          </a:p>
          <a:p>
            <a:r>
              <a:rPr lang="en-US" sz="4000" dirty="0"/>
              <a:t>Front end: React, </a:t>
            </a:r>
            <a:r>
              <a:rPr lang="en-US" sz="4000" dirty="0" err="1"/>
              <a:t>Vite</a:t>
            </a:r>
            <a:r>
              <a:rPr lang="en-US" sz="4000" dirty="0"/>
              <a:t>, Tailwind</a:t>
            </a:r>
          </a:p>
          <a:p>
            <a:r>
              <a:rPr lang="en-US" sz="4000" dirty="0"/>
              <a:t>Back end: Express.js</a:t>
            </a:r>
          </a:p>
          <a:p>
            <a:r>
              <a:rPr lang="en-US" sz="4000" b="1" dirty="0"/>
              <a:t>Goals</a:t>
            </a:r>
          </a:p>
          <a:p>
            <a:pPr marL="571500" indent="-571500">
              <a:buFont typeface="Arial" panose="020B0604020202020204" pitchFamily="34" charset="0"/>
              <a:buChar char="•"/>
            </a:pPr>
            <a:r>
              <a:rPr lang="en-US" sz="4000" dirty="0"/>
              <a:t>Provide a useful tool for students taking </a:t>
            </a:r>
            <a:r>
              <a:rPr lang="en-US" sz="4000" dirty="0" err="1"/>
              <a:t>Psoft</a:t>
            </a:r>
            <a:endParaRPr lang="en-US" sz="4000" dirty="0"/>
          </a:p>
          <a:p>
            <a:pPr marL="571500" indent="-571500">
              <a:buFont typeface="Arial" panose="020B0604020202020204" pitchFamily="34" charset="0"/>
              <a:buChar char="•"/>
            </a:pPr>
            <a:r>
              <a:rPr lang="en-US" sz="4000" dirty="0"/>
              <a:t>Implement tools for Hoare triples, forward and backwards reasoning, and CFGs</a:t>
            </a:r>
          </a:p>
          <a:p>
            <a:pPr marL="571500" indent="-571500">
              <a:buFont typeface="Arial" panose="020B0604020202020204" pitchFamily="34" charset="0"/>
              <a:buChar char="•"/>
            </a:pPr>
            <a:r>
              <a:rPr lang="en-US" sz="4000" dirty="0"/>
              <a:t>Host the website on a server so it can be accessed by students</a:t>
            </a:r>
          </a:p>
          <a:p>
            <a:pPr marL="571500" indent="-571500">
              <a:buFont typeface="Arial" panose="020B0604020202020204" pitchFamily="34" charset="0"/>
              <a:buChar char="•"/>
            </a:pPr>
            <a:r>
              <a:rPr lang="en-US" sz="4000" dirty="0"/>
              <a:t>Improve the appearance of the website</a:t>
            </a:r>
          </a:p>
        </p:txBody>
      </p:sp>
      <p:sp>
        <p:nvSpPr>
          <p:cNvPr id="6" name="Text Placeholder 5">
            <a:extLst>
              <a:ext uri="{FF2B5EF4-FFF2-40B4-BE49-F238E27FC236}">
                <a16:creationId xmlns:a16="http://schemas.microsoft.com/office/drawing/2014/main" id="{6585B3EA-B18E-7FC2-B2CD-2D7E02CF97EB}"/>
              </a:ext>
            </a:extLst>
          </p:cNvPr>
          <p:cNvSpPr>
            <a:spLocks noGrp="1"/>
          </p:cNvSpPr>
          <p:nvPr>
            <p:ph type="body" sz="quarter" idx="22"/>
          </p:nvPr>
        </p:nvSpPr>
        <p:spPr/>
        <p:txBody>
          <a:bodyPr/>
          <a:lstStyle/>
          <a:p>
            <a:r>
              <a:rPr lang="en-US" dirty="0"/>
              <a:t>PSOFT TOOLS</a:t>
            </a:r>
          </a:p>
        </p:txBody>
      </p:sp>
      <p:sp>
        <p:nvSpPr>
          <p:cNvPr id="7" name="Text Placeholder 6">
            <a:extLst>
              <a:ext uri="{FF2B5EF4-FFF2-40B4-BE49-F238E27FC236}">
                <a16:creationId xmlns:a16="http://schemas.microsoft.com/office/drawing/2014/main" id="{4F5BE437-9F0D-82A7-FBFB-D2DBD5108729}"/>
              </a:ext>
            </a:extLst>
          </p:cNvPr>
          <p:cNvSpPr>
            <a:spLocks noGrp="1"/>
          </p:cNvSpPr>
          <p:nvPr>
            <p:ph type="body" sz="quarter" idx="23"/>
          </p:nvPr>
        </p:nvSpPr>
        <p:spPr>
          <a:xfrm>
            <a:off x="22377404" y="5829841"/>
            <a:ext cx="10048874" cy="3502475"/>
          </a:xfrm>
        </p:spPr>
        <p:txBody>
          <a:bodyPr/>
          <a:lstStyle/>
          <a:p>
            <a:r>
              <a:rPr lang="en-US" sz="4000" dirty="0"/>
              <a:t>Our accomplishments this semester</a:t>
            </a:r>
          </a:p>
          <a:p>
            <a:pPr marL="285750" indent="-285750">
              <a:buFont typeface="Arial" panose="020B0604020202020204" pitchFamily="34" charset="0"/>
              <a:buChar char="•"/>
            </a:pPr>
            <a:r>
              <a:rPr lang="en-US" sz="4000" dirty="0"/>
              <a:t>Completed Hoare Triple verification</a:t>
            </a:r>
          </a:p>
          <a:p>
            <a:pPr marL="285750" indent="-285750">
              <a:buFont typeface="Arial" panose="020B0604020202020204" pitchFamily="34" charset="0"/>
              <a:buChar char="•"/>
            </a:pPr>
            <a:r>
              <a:rPr lang="en-US" sz="4000" dirty="0"/>
              <a:t>Started forward and backwards reasoning</a:t>
            </a:r>
          </a:p>
          <a:p>
            <a:pPr marL="285750" indent="-285750">
              <a:buFont typeface="Arial" panose="020B0604020202020204" pitchFamily="34" charset="0"/>
              <a:buChar char="•"/>
            </a:pPr>
            <a:endParaRPr lang="en-US" dirty="0"/>
          </a:p>
        </p:txBody>
      </p:sp>
      <p:sp>
        <p:nvSpPr>
          <p:cNvPr id="8" name="Text Placeholder 7">
            <a:extLst>
              <a:ext uri="{FF2B5EF4-FFF2-40B4-BE49-F238E27FC236}">
                <a16:creationId xmlns:a16="http://schemas.microsoft.com/office/drawing/2014/main" id="{194151B7-6ED8-F2C6-FE53-92BB5AE7F145}"/>
              </a:ext>
            </a:extLst>
          </p:cNvPr>
          <p:cNvSpPr>
            <a:spLocks noGrp="1"/>
          </p:cNvSpPr>
          <p:nvPr>
            <p:ph type="body" sz="quarter" idx="24"/>
          </p:nvPr>
        </p:nvSpPr>
        <p:spPr/>
        <p:txBody>
          <a:bodyPr/>
          <a:lstStyle/>
          <a:p>
            <a:r>
              <a:rPr lang="en-US" dirty="0"/>
              <a:t>BACK END</a:t>
            </a:r>
          </a:p>
        </p:txBody>
      </p:sp>
      <p:sp>
        <p:nvSpPr>
          <p:cNvPr id="11" name="Text Placeholder 10">
            <a:extLst>
              <a:ext uri="{FF2B5EF4-FFF2-40B4-BE49-F238E27FC236}">
                <a16:creationId xmlns:a16="http://schemas.microsoft.com/office/drawing/2014/main" id="{13725BF2-9AE2-7633-0FAE-711AAE057EFC}"/>
              </a:ext>
            </a:extLst>
          </p:cNvPr>
          <p:cNvSpPr>
            <a:spLocks noGrp="1"/>
          </p:cNvSpPr>
          <p:nvPr>
            <p:ph type="body" sz="quarter" idx="27"/>
          </p:nvPr>
        </p:nvSpPr>
        <p:spPr>
          <a:xfrm>
            <a:off x="33844182" y="4981628"/>
            <a:ext cx="10047018" cy="615545"/>
          </a:xfrm>
        </p:spPr>
        <p:txBody>
          <a:bodyPr/>
          <a:lstStyle/>
          <a:p>
            <a:r>
              <a:rPr lang="en-US" dirty="0"/>
              <a:t>CHALLENGES</a:t>
            </a:r>
          </a:p>
        </p:txBody>
      </p:sp>
      <p:sp>
        <p:nvSpPr>
          <p:cNvPr id="12" name="Text Placeholder 11">
            <a:extLst>
              <a:ext uri="{FF2B5EF4-FFF2-40B4-BE49-F238E27FC236}">
                <a16:creationId xmlns:a16="http://schemas.microsoft.com/office/drawing/2014/main" id="{14C41E60-197E-8E8D-43FF-35936D78FF38}"/>
              </a:ext>
            </a:extLst>
          </p:cNvPr>
          <p:cNvSpPr>
            <a:spLocks noGrp="1"/>
          </p:cNvSpPr>
          <p:nvPr>
            <p:ph type="body" sz="quarter" idx="28"/>
          </p:nvPr>
        </p:nvSpPr>
        <p:spPr>
          <a:xfrm>
            <a:off x="33844182" y="6072120"/>
            <a:ext cx="10052050" cy="6370953"/>
          </a:xfrm>
        </p:spPr>
        <p:txBody>
          <a:bodyPr/>
          <a:lstStyle/>
          <a:p>
            <a:pPr marL="285750" indent="-285750">
              <a:buFont typeface="Arial" panose="020B0604020202020204" pitchFamily="34" charset="0"/>
              <a:buChar char="•"/>
            </a:pPr>
            <a:r>
              <a:rPr lang="en-US" sz="4000" dirty="0"/>
              <a:t>None of the people working on the project this semester had any web dev experience</a:t>
            </a:r>
          </a:p>
          <a:p>
            <a:pPr marL="285750" indent="-285750">
              <a:buFont typeface="Arial" panose="020B0604020202020204" pitchFamily="34" charset="0"/>
              <a:buChar char="•"/>
            </a:pPr>
            <a:r>
              <a:rPr lang="en-US" sz="4000" dirty="0"/>
              <a:t>Forward and backwards reasoning is difficult to implement, especially when the code contains if statements</a:t>
            </a:r>
          </a:p>
          <a:p>
            <a:pPr marL="285750" indent="-285750">
              <a:buFont typeface="Arial" panose="020B0604020202020204" pitchFamily="34" charset="0"/>
              <a:buChar char="•"/>
            </a:pPr>
            <a:r>
              <a:rPr lang="en-US" sz="4000" dirty="0"/>
              <a:t>Simplifying in forward and backwards reasoning is difficult</a:t>
            </a:r>
          </a:p>
          <a:p>
            <a:pPr marL="285750" indent="-285750">
              <a:buFont typeface="Arial" panose="020B0604020202020204" pitchFamily="34" charset="0"/>
              <a:buChar char="•"/>
            </a:pPr>
            <a:endParaRPr lang="en-US" sz="4000" dirty="0"/>
          </a:p>
        </p:txBody>
      </p:sp>
      <p:sp>
        <p:nvSpPr>
          <p:cNvPr id="13" name="Text Placeholder 12">
            <a:extLst>
              <a:ext uri="{FF2B5EF4-FFF2-40B4-BE49-F238E27FC236}">
                <a16:creationId xmlns:a16="http://schemas.microsoft.com/office/drawing/2014/main" id="{0F6D87B7-C12A-12F9-A946-B5E4656EE02D}"/>
              </a:ext>
            </a:extLst>
          </p:cNvPr>
          <p:cNvSpPr>
            <a:spLocks noGrp="1"/>
          </p:cNvSpPr>
          <p:nvPr>
            <p:ph type="body" sz="quarter" idx="29"/>
          </p:nvPr>
        </p:nvSpPr>
        <p:spPr/>
        <p:txBody>
          <a:bodyPr/>
          <a:lstStyle/>
          <a:p>
            <a:endParaRPr lang="en-US" dirty="0"/>
          </a:p>
        </p:txBody>
      </p:sp>
      <p:sp>
        <p:nvSpPr>
          <p:cNvPr id="14" name="Text Placeholder 13">
            <a:extLst>
              <a:ext uri="{FF2B5EF4-FFF2-40B4-BE49-F238E27FC236}">
                <a16:creationId xmlns:a16="http://schemas.microsoft.com/office/drawing/2014/main" id="{09D2277D-0005-E662-D92E-2AF719434B25}"/>
              </a:ext>
            </a:extLst>
          </p:cNvPr>
          <p:cNvSpPr>
            <a:spLocks noGrp="1"/>
          </p:cNvSpPr>
          <p:nvPr>
            <p:ph type="body" sz="quarter" idx="30"/>
          </p:nvPr>
        </p:nvSpPr>
        <p:spPr/>
        <p:txBody>
          <a:bodyPr/>
          <a:lstStyle/>
          <a:p>
            <a:endParaRPr lang="en-US"/>
          </a:p>
        </p:txBody>
      </p:sp>
      <p:sp>
        <p:nvSpPr>
          <p:cNvPr id="15" name="Text Placeholder 14">
            <a:extLst>
              <a:ext uri="{FF2B5EF4-FFF2-40B4-BE49-F238E27FC236}">
                <a16:creationId xmlns:a16="http://schemas.microsoft.com/office/drawing/2014/main" id="{AD1D784A-4141-28D6-4A5F-930A6B66176C}"/>
              </a:ext>
            </a:extLst>
          </p:cNvPr>
          <p:cNvSpPr>
            <a:spLocks noGrp="1"/>
          </p:cNvSpPr>
          <p:nvPr>
            <p:ph type="body" sz="quarter" idx="96"/>
          </p:nvPr>
        </p:nvSpPr>
        <p:spPr>
          <a:xfrm>
            <a:off x="469889" y="17175924"/>
            <a:ext cx="10056813" cy="8734677"/>
          </a:xfrm>
        </p:spPr>
        <p:txBody>
          <a:bodyPr/>
          <a:lstStyle/>
          <a:p>
            <a:r>
              <a:rPr lang="en-US" sz="4800" dirty="0"/>
              <a:t>Front end</a:t>
            </a:r>
          </a:p>
          <a:p>
            <a:pPr marL="285750" indent="-285750">
              <a:buFont typeface="Arial" panose="020B0604020202020204" pitchFamily="34" charset="0"/>
              <a:buChar char="•"/>
            </a:pPr>
            <a:r>
              <a:rPr lang="en-US" sz="4800" dirty="0"/>
              <a:t>Continue to improve the overall appearance of website</a:t>
            </a:r>
          </a:p>
          <a:p>
            <a:pPr marL="285750" indent="-285750">
              <a:buFont typeface="Arial" panose="020B0604020202020204" pitchFamily="34" charset="0"/>
              <a:buChar char="•"/>
            </a:pPr>
            <a:r>
              <a:rPr lang="en-US" sz="4800" dirty="0"/>
              <a:t>Finish the pages for design patterns</a:t>
            </a:r>
          </a:p>
          <a:p>
            <a:r>
              <a:rPr lang="en-US" sz="4800" dirty="0"/>
              <a:t>Back end</a:t>
            </a:r>
          </a:p>
          <a:p>
            <a:pPr marL="285750" indent="-285750">
              <a:buFont typeface="Arial" panose="020B0604020202020204" pitchFamily="34" charset="0"/>
              <a:buChar char="•"/>
            </a:pPr>
            <a:r>
              <a:rPr lang="en-US" sz="4800" dirty="0"/>
              <a:t>Finish forward and backwards reasoning</a:t>
            </a:r>
          </a:p>
          <a:p>
            <a:pPr marL="285750" indent="-285750">
              <a:buFont typeface="Arial" panose="020B0604020202020204" pitchFamily="34" charset="0"/>
              <a:buChar char="•"/>
            </a:pPr>
            <a:r>
              <a:rPr lang="en-US" sz="4800" dirty="0"/>
              <a:t>Implement CFG generator</a:t>
            </a:r>
          </a:p>
          <a:p>
            <a:endParaRPr lang="en-US" sz="4800" dirty="0"/>
          </a:p>
        </p:txBody>
      </p:sp>
      <p:sp>
        <p:nvSpPr>
          <p:cNvPr id="16" name="Text Placeholder 15">
            <a:extLst>
              <a:ext uri="{FF2B5EF4-FFF2-40B4-BE49-F238E27FC236}">
                <a16:creationId xmlns:a16="http://schemas.microsoft.com/office/drawing/2014/main" id="{0AD2DAE7-5392-D4F6-09BD-CBD3734582B2}"/>
              </a:ext>
            </a:extLst>
          </p:cNvPr>
          <p:cNvSpPr>
            <a:spLocks noGrp="1"/>
          </p:cNvSpPr>
          <p:nvPr>
            <p:ph type="body" sz="quarter" idx="150"/>
          </p:nvPr>
        </p:nvSpPr>
        <p:spPr/>
        <p:txBody>
          <a:bodyPr/>
          <a:lstStyle/>
          <a:p>
            <a:r>
              <a:rPr lang="en-US" dirty="0"/>
              <a:t>RCOS Summer 2024</a:t>
            </a:r>
          </a:p>
        </p:txBody>
      </p:sp>
      <p:sp>
        <p:nvSpPr>
          <p:cNvPr id="17" name="Text Placeholder 16">
            <a:extLst>
              <a:ext uri="{FF2B5EF4-FFF2-40B4-BE49-F238E27FC236}">
                <a16:creationId xmlns:a16="http://schemas.microsoft.com/office/drawing/2014/main" id="{AAE1D3A5-28F2-B404-D4C7-47EB988D933E}"/>
              </a:ext>
            </a:extLst>
          </p:cNvPr>
          <p:cNvSpPr>
            <a:spLocks noGrp="1"/>
          </p:cNvSpPr>
          <p:nvPr>
            <p:ph type="body" sz="quarter" idx="151"/>
          </p:nvPr>
        </p:nvSpPr>
        <p:spPr/>
        <p:txBody>
          <a:bodyPr/>
          <a:lstStyle/>
          <a:p>
            <a:r>
              <a:rPr lang="en-US" dirty="0"/>
              <a:t>Ryan Carroll, Luke Kissling, Thalia Jackson</a:t>
            </a:r>
          </a:p>
        </p:txBody>
      </p:sp>
      <p:sp>
        <p:nvSpPr>
          <p:cNvPr id="18" name="Text Placeholder 17">
            <a:extLst>
              <a:ext uri="{FF2B5EF4-FFF2-40B4-BE49-F238E27FC236}">
                <a16:creationId xmlns:a16="http://schemas.microsoft.com/office/drawing/2014/main" id="{12CD0C50-C7FD-6047-8A81-F714D190A0F7}"/>
              </a:ext>
            </a:extLst>
          </p:cNvPr>
          <p:cNvSpPr>
            <a:spLocks noGrp="1"/>
          </p:cNvSpPr>
          <p:nvPr>
            <p:ph type="body" sz="quarter" idx="153"/>
          </p:nvPr>
        </p:nvSpPr>
        <p:spPr/>
        <p:txBody>
          <a:bodyPr/>
          <a:lstStyle/>
          <a:p>
            <a:r>
              <a:rPr lang="en-US" dirty="0"/>
              <a:t>PSOFT TOOLS</a:t>
            </a:r>
          </a:p>
        </p:txBody>
      </p:sp>
      <p:pic>
        <p:nvPicPr>
          <p:cNvPr id="20" name="Picture 19">
            <a:extLst>
              <a:ext uri="{FF2B5EF4-FFF2-40B4-BE49-F238E27FC236}">
                <a16:creationId xmlns:a16="http://schemas.microsoft.com/office/drawing/2014/main" id="{666C75F3-F0EA-4F65-AFEC-F59CDF1383C3}"/>
              </a:ext>
            </a:extLst>
          </p:cNvPr>
          <p:cNvPicPr>
            <a:picLocks noChangeAspect="1"/>
          </p:cNvPicPr>
          <p:nvPr/>
        </p:nvPicPr>
        <p:blipFill>
          <a:blip r:embed="rId2"/>
          <a:stretch>
            <a:fillRect/>
          </a:stretch>
        </p:blipFill>
        <p:spPr>
          <a:xfrm>
            <a:off x="22707061" y="13235702"/>
            <a:ext cx="18720380" cy="8565270"/>
          </a:xfrm>
          <a:prstGeom prst="rect">
            <a:avLst/>
          </a:prstGeom>
          <a:ln>
            <a:solidFill>
              <a:schemeClr val="tx1"/>
            </a:solidFill>
          </a:ln>
        </p:spPr>
      </p:pic>
      <p:sp>
        <p:nvSpPr>
          <p:cNvPr id="21" name="TextBox 20">
            <a:extLst>
              <a:ext uri="{FF2B5EF4-FFF2-40B4-BE49-F238E27FC236}">
                <a16:creationId xmlns:a16="http://schemas.microsoft.com/office/drawing/2014/main" id="{19C3285C-6F06-524B-D602-50B6B9554FD8}"/>
              </a:ext>
            </a:extLst>
          </p:cNvPr>
          <p:cNvSpPr txBox="1"/>
          <p:nvPr/>
        </p:nvSpPr>
        <p:spPr>
          <a:xfrm>
            <a:off x="14911389" y="24428541"/>
            <a:ext cx="4419602" cy="830997"/>
          </a:xfrm>
          <a:prstGeom prst="rect">
            <a:avLst/>
          </a:prstGeom>
          <a:noFill/>
        </p:spPr>
        <p:txBody>
          <a:bodyPr wrap="square" rtlCol="0">
            <a:spAutoFit/>
          </a:bodyPr>
          <a:lstStyle/>
          <a:p>
            <a:r>
              <a:rPr lang="en-US" sz="4800" dirty="0">
                <a:latin typeface="Century Gothic" panose="020B0502020202020204" pitchFamily="34" charset="0"/>
                <a:cs typeface="Times New Roman" panose="02020603050405020304" pitchFamily="18" charset="0"/>
              </a:rPr>
              <a:t>Front end</a:t>
            </a:r>
          </a:p>
        </p:txBody>
      </p:sp>
      <p:pic>
        <p:nvPicPr>
          <p:cNvPr id="25" name="Picture 24" descr="A qr code with a white background&#10;&#10;Description automatically generated">
            <a:extLst>
              <a:ext uri="{FF2B5EF4-FFF2-40B4-BE49-F238E27FC236}">
                <a16:creationId xmlns:a16="http://schemas.microsoft.com/office/drawing/2014/main" id="{72100A89-A616-CABE-5B9E-2675BD7A3B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354043" y="25094546"/>
            <a:ext cx="6261109" cy="6261109"/>
          </a:xfrm>
          <a:prstGeom prst="rect">
            <a:avLst/>
          </a:prstGeom>
        </p:spPr>
      </p:pic>
      <p:pic>
        <p:nvPicPr>
          <p:cNvPr id="27" name="Picture 26" descr="A qr code with a white background&#10;&#10;Description automatically generated">
            <a:extLst>
              <a:ext uri="{FF2B5EF4-FFF2-40B4-BE49-F238E27FC236}">
                <a16:creationId xmlns:a16="http://schemas.microsoft.com/office/drawing/2014/main" id="{6A7F1C6D-73E1-B9B0-0A1C-EFA46B8F2D9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190923" y="25084440"/>
            <a:ext cx="6261109" cy="6261109"/>
          </a:xfrm>
          <a:prstGeom prst="rect">
            <a:avLst/>
          </a:prstGeom>
        </p:spPr>
      </p:pic>
      <p:sp>
        <p:nvSpPr>
          <p:cNvPr id="28" name="TextBox 27">
            <a:extLst>
              <a:ext uri="{FF2B5EF4-FFF2-40B4-BE49-F238E27FC236}">
                <a16:creationId xmlns:a16="http://schemas.microsoft.com/office/drawing/2014/main" id="{BB4B63C7-D253-3A9A-0607-7B841BD67017}"/>
              </a:ext>
            </a:extLst>
          </p:cNvPr>
          <p:cNvSpPr txBox="1"/>
          <p:nvPr/>
        </p:nvSpPr>
        <p:spPr>
          <a:xfrm>
            <a:off x="23804875" y="24441406"/>
            <a:ext cx="3033203" cy="830997"/>
          </a:xfrm>
          <a:prstGeom prst="rect">
            <a:avLst/>
          </a:prstGeom>
          <a:noFill/>
        </p:spPr>
        <p:txBody>
          <a:bodyPr wrap="none" rtlCol="0">
            <a:spAutoFit/>
          </a:bodyPr>
          <a:lstStyle/>
          <a:p>
            <a:r>
              <a:rPr lang="en-US" sz="4800" dirty="0">
                <a:latin typeface="Century Gothic" panose="020B0502020202020204" pitchFamily="34" charset="0"/>
                <a:cs typeface="Times New Roman" panose="02020603050405020304" pitchFamily="18" charset="0"/>
              </a:rPr>
              <a:t>Back end</a:t>
            </a:r>
          </a:p>
        </p:txBody>
      </p:sp>
    </p:spTree>
    <p:extLst>
      <p:ext uri="{BB962C8B-B14F-4D97-AF65-F5344CB8AC3E}">
        <p14:creationId xmlns:p14="http://schemas.microsoft.com/office/powerpoint/2010/main" val="358771719"/>
      </p:ext>
    </p:extLst>
  </p:cSld>
  <p:clrMapOvr>
    <a:masterClrMapping/>
  </p:clrMapOvr>
</p:sld>
</file>

<file path=ppt/theme/theme1.xml><?xml version="1.0" encoding="utf-8"?>
<a:theme xmlns:a="http://schemas.openxmlformats.org/drawingml/2006/main" name="36x48-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1233</TotalTime>
  <Words>205</Words>
  <Application>Microsoft Office PowerPoint</Application>
  <PresentationFormat>Custom</PresentationFormat>
  <Paragraphs>36</Paragraphs>
  <Slides>1</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vt:i4>
      </vt:variant>
    </vt:vector>
  </HeadingPairs>
  <TitlesOfParts>
    <vt:vector size="9" baseType="lpstr">
      <vt:lpstr>Arial</vt:lpstr>
      <vt:lpstr>Arial Black</vt:lpstr>
      <vt:lpstr>Calibri</vt:lpstr>
      <vt:lpstr>Century Gothic</vt:lpstr>
      <vt:lpstr>Times New Roman</vt:lpstr>
      <vt:lpstr>Trebuchet MS</vt:lpstr>
      <vt:lpstr>36x48-Template</vt:lpstr>
      <vt:lpstr>Without guides</vt:lpstr>
      <vt:lpstr>PowerPoint Presentation</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Kissling, Luke</cp:lastModifiedBy>
  <cp:revision>74</cp:revision>
  <dcterms:created xsi:type="dcterms:W3CDTF">2012-02-03T19:11:35Z</dcterms:created>
  <dcterms:modified xsi:type="dcterms:W3CDTF">2024-08-06T18:37:15Z</dcterms:modified>
  <cp:category>Research poster templates</cp:category>
</cp:coreProperties>
</file>